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85" r:id="rId6"/>
    <p:sldId id="289" r:id="rId7"/>
    <p:sldId id="287" r:id="rId8"/>
    <p:sldId id="278" r:id="rId9"/>
    <p:sldId id="261" r:id="rId10"/>
    <p:sldId id="290" r:id="rId11"/>
    <p:sldId id="260" r:id="rId12"/>
    <p:sldId id="301" r:id="rId13"/>
    <p:sldId id="302" r:id="rId14"/>
    <p:sldId id="303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9C2"/>
    <a:srgbClr val="798B7C"/>
    <a:srgbClr val="5B6A5E"/>
    <a:srgbClr val="D8D2CD"/>
    <a:srgbClr val="A5A5A5"/>
    <a:srgbClr val="BEB9AA"/>
    <a:srgbClr val="AA9D92"/>
    <a:srgbClr val="F2F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0DF3F-E9E4-482B-AE1B-139EA8AD9E45}" v="43" dt="2026-05-11T13:58:57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6" autoAdjust="0"/>
    <p:restoredTop sz="93595" autoAdjust="0"/>
  </p:normalViewPr>
  <p:slideViewPr>
    <p:cSldViewPr snapToGrid="0">
      <p:cViewPr varScale="1">
        <p:scale>
          <a:sx n="77" d="100"/>
          <a:sy n="77" d="100"/>
        </p:scale>
        <p:origin x="907" y="62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045C1-8703-4ABD-8AB9-3FB734A8F51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A9CABF-4BA4-4E01-A320-077EEECDB4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Problem Statement</a:t>
          </a:r>
          <a:endParaRPr lang="en-US" sz="2000" dirty="0"/>
        </a:p>
      </dgm:t>
    </dgm:pt>
    <dgm:pt modelId="{55450506-44E8-4874-88F8-75AF5FBFE223}" type="parTrans" cxnId="{82DDDB6C-41DE-4354-A156-F282CA8C1D6A}">
      <dgm:prSet/>
      <dgm:spPr/>
      <dgm:t>
        <a:bodyPr/>
        <a:lstStyle/>
        <a:p>
          <a:endParaRPr lang="en-US"/>
        </a:p>
      </dgm:t>
    </dgm:pt>
    <dgm:pt modelId="{50250722-AFD5-4EBA-9DC3-3E1E2D4E1A8F}" type="sibTrans" cxnId="{82DDDB6C-41DE-4354-A156-F282CA8C1D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2E852A-F533-41A3-97F2-AF4068548A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Data Overview</a:t>
          </a:r>
          <a:endParaRPr lang="en-US" sz="2000" dirty="0"/>
        </a:p>
      </dgm:t>
    </dgm:pt>
    <dgm:pt modelId="{CB104BFE-1D3D-4FE0-8511-2223B72DA13A}" type="parTrans" cxnId="{1372B85E-B425-4F8B-A2C9-4756011815DC}">
      <dgm:prSet/>
      <dgm:spPr/>
      <dgm:t>
        <a:bodyPr/>
        <a:lstStyle/>
        <a:p>
          <a:endParaRPr lang="en-US"/>
        </a:p>
      </dgm:t>
    </dgm:pt>
    <dgm:pt modelId="{AF967550-EEB5-4D1A-BE3A-41D679A6C714}" type="sibTrans" cxnId="{1372B85E-B425-4F8B-A2C9-4756011815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24E5B3-DA21-4001-A956-EEB44DD7B27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Workflow</a:t>
          </a:r>
          <a:endParaRPr lang="en-US" sz="2000" dirty="0"/>
        </a:p>
      </dgm:t>
    </dgm:pt>
    <dgm:pt modelId="{D1201F54-BD2E-4DE7-B70F-99D8CE2C1AED}" type="parTrans" cxnId="{CBD5DA90-320C-40EE-AF59-358FB19E0F45}">
      <dgm:prSet/>
      <dgm:spPr/>
      <dgm:t>
        <a:bodyPr/>
        <a:lstStyle/>
        <a:p>
          <a:endParaRPr lang="en-US"/>
        </a:p>
      </dgm:t>
    </dgm:pt>
    <dgm:pt modelId="{A7D803F4-7245-448C-BBEE-8929A195E30A}" type="sibTrans" cxnId="{CBD5DA90-320C-40EE-AF59-358FB19E0F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BFDD71-CEDE-4D01-9C07-2F47CD6DB7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Key Metrics &amp; Insights</a:t>
          </a:r>
          <a:endParaRPr lang="en-US" sz="2000" dirty="0"/>
        </a:p>
      </dgm:t>
    </dgm:pt>
    <dgm:pt modelId="{9615D824-1C52-4E85-BBFD-5B09B24F3684}" type="parTrans" cxnId="{5B2BC855-A38B-418C-B3A8-C95DF3BFBC1C}">
      <dgm:prSet/>
      <dgm:spPr/>
      <dgm:t>
        <a:bodyPr/>
        <a:lstStyle/>
        <a:p>
          <a:endParaRPr lang="en-US"/>
        </a:p>
      </dgm:t>
    </dgm:pt>
    <dgm:pt modelId="{D72A7636-7C1E-4CC2-B847-7512CCBBDB6B}" type="sibTrans" cxnId="{5B2BC855-A38B-418C-B3A8-C95DF3BFBC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B65F97-B90D-4DAE-9141-544DA80557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Recommendations</a:t>
          </a:r>
          <a:endParaRPr lang="en-US" sz="2000" dirty="0"/>
        </a:p>
      </dgm:t>
    </dgm:pt>
    <dgm:pt modelId="{D2A61694-1E62-4361-93E6-58BF29CCE2F8}" type="parTrans" cxnId="{C53296B5-8393-4BB4-B1BE-DA363A015DC6}">
      <dgm:prSet/>
      <dgm:spPr/>
      <dgm:t>
        <a:bodyPr/>
        <a:lstStyle/>
        <a:p>
          <a:endParaRPr lang="en-US"/>
        </a:p>
      </dgm:t>
    </dgm:pt>
    <dgm:pt modelId="{2C88ACE3-7552-4F73-917E-01BB10ABE5ED}" type="sibTrans" cxnId="{C53296B5-8393-4BB4-B1BE-DA363A015D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4A9058-B7CC-4915-A034-2F99EC7FE7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dirty="0"/>
            <a:t>Conclusion</a:t>
          </a:r>
          <a:endParaRPr lang="en-US" sz="2000" dirty="0"/>
        </a:p>
      </dgm:t>
    </dgm:pt>
    <dgm:pt modelId="{B07576AC-4DE9-45C0-B436-48C95AEA3F72}" type="parTrans" cxnId="{5DD06C0C-68C8-4333-9F11-6DB2B5344C61}">
      <dgm:prSet/>
      <dgm:spPr/>
      <dgm:t>
        <a:bodyPr/>
        <a:lstStyle/>
        <a:p>
          <a:endParaRPr lang="en-US"/>
        </a:p>
      </dgm:t>
    </dgm:pt>
    <dgm:pt modelId="{53BF06CB-E469-4BCA-840C-E1055423856C}" type="sibTrans" cxnId="{5DD06C0C-68C8-4333-9F11-6DB2B5344C61}">
      <dgm:prSet/>
      <dgm:spPr/>
      <dgm:t>
        <a:bodyPr/>
        <a:lstStyle/>
        <a:p>
          <a:endParaRPr lang="en-US"/>
        </a:p>
      </dgm:t>
    </dgm:pt>
    <dgm:pt modelId="{93E710CC-9B9A-46C2-AB28-2E3DC2A01471}" type="pres">
      <dgm:prSet presAssocID="{217045C1-8703-4ABD-8AB9-3FB734A8F512}" presName="root" presStyleCnt="0">
        <dgm:presLayoutVars>
          <dgm:dir/>
          <dgm:resizeHandles val="exact"/>
        </dgm:presLayoutVars>
      </dgm:prSet>
      <dgm:spPr/>
    </dgm:pt>
    <dgm:pt modelId="{349C801C-7BF7-4779-A661-760ACEF151AD}" type="pres">
      <dgm:prSet presAssocID="{217045C1-8703-4ABD-8AB9-3FB734A8F512}" presName="container" presStyleCnt="0">
        <dgm:presLayoutVars>
          <dgm:dir/>
          <dgm:resizeHandles val="exact"/>
        </dgm:presLayoutVars>
      </dgm:prSet>
      <dgm:spPr/>
    </dgm:pt>
    <dgm:pt modelId="{3BE17CF7-2ED5-4DA4-B0DF-5C19EB84A045}" type="pres">
      <dgm:prSet presAssocID="{8AA9CABF-4BA4-4E01-A320-077EEECDB44F}" presName="compNode" presStyleCnt="0"/>
      <dgm:spPr/>
    </dgm:pt>
    <dgm:pt modelId="{BC0E5732-C891-4AE5-9C0F-23127C80B05A}" type="pres">
      <dgm:prSet presAssocID="{8AA9CABF-4BA4-4E01-A320-077EEECDB44F}" presName="iconBgRect" presStyleLbl="bgShp" presStyleIdx="0" presStyleCnt="6"/>
      <dgm:spPr>
        <a:solidFill>
          <a:srgbClr val="5B6A5E"/>
        </a:solidFill>
      </dgm:spPr>
    </dgm:pt>
    <dgm:pt modelId="{2BE090DA-8BB9-48F2-99BE-B94D93DBB5A3}" type="pres">
      <dgm:prSet presAssocID="{8AA9CABF-4BA4-4E01-A320-077EEECDB44F}" presName="iconRect" presStyleLbl="node1" presStyleIdx="0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E845B16-6FA0-4078-A58C-47F312D44EBC}" type="pres">
      <dgm:prSet presAssocID="{8AA9CABF-4BA4-4E01-A320-077EEECDB44F}" presName="spaceRect" presStyleCnt="0"/>
      <dgm:spPr/>
    </dgm:pt>
    <dgm:pt modelId="{84CBCBB9-77EF-4712-840B-77C6C349EB9D}" type="pres">
      <dgm:prSet presAssocID="{8AA9CABF-4BA4-4E01-A320-077EEECDB44F}" presName="textRect" presStyleLbl="revTx" presStyleIdx="0" presStyleCnt="6" custScaleX="124889" custLinFactNeighborX="11063" custLinFactNeighborY="1441">
        <dgm:presLayoutVars>
          <dgm:chMax val="1"/>
          <dgm:chPref val="1"/>
        </dgm:presLayoutVars>
      </dgm:prSet>
      <dgm:spPr/>
    </dgm:pt>
    <dgm:pt modelId="{22F6E6BE-11CA-4B07-AE25-F60BB72F9B9D}" type="pres">
      <dgm:prSet presAssocID="{50250722-AFD5-4EBA-9DC3-3E1E2D4E1A8F}" presName="sibTrans" presStyleLbl="sibTrans2D1" presStyleIdx="0" presStyleCnt="0"/>
      <dgm:spPr/>
    </dgm:pt>
    <dgm:pt modelId="{EB42C3B5-E530-4C04-B683-B9E27B076230}" type="pres">
      <dgm:prSet presAssocID="{9A2E852A-F533-41A3-97F2-AF4068548AC1}" presName="compNode" presStyleCnt="0"/>
      <dgm:spPr/>
    </dgm:pt>
    <dgm:pt modelId="{BD7EA5CE-EA62-4BA6-9F3D-6FA13EA7101A}" type="pres">
      <dgm:prSet presAssocID="{9A2E852A-F533-41A3-97F2-AF4068548AC1}" presName="iconBgRect" presStyleLbl="bgShp" presStyleIdx="1" presStyleCnt="6"/>
      <dgm:spPr>
        <a:solidFill>
          <a:srgbClr val="5B6A5E"/>
        </a:solidFill>
      </dgm:spPr>
    </dgm:pt>
    <dgm:pt modelId="{3C0C3920-0EA4-40B0-BC4F-7036D72B0AE6}" type="pres">
      <dgm:prSet presAssocID="{9A2E852A-F533-41A3-97F2-AF4068548AC1}" presName="iconRect" presStyleLbl="node1" presStyleIdx="1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lt1">
              <a:hueOff val="0"/>
              <a:satOff val="0"/>
              <a:lumOff val="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68EC318-E36C-49B7-AB55-7FF3DACC84BF}" type="pres">
      <dgm:prSet presAssocID="{9A2E852A-F533-41A3-97F2-AF4068548AC1}" presName="spaceRect" presStyleCnt="0"/>
      <dgm:spPr/>
    </dgm:pt>
    <dgm:pt modelId="{38ED4120-BF1F-453C-A116-343922EAE190}" type="pres">
      <dgm:prSet presAssocID="{9A2E852A-F533-41A3-97F2-AF4068548AC1}" presName="textRect" presStyleLbl="revTx" presStyleIdx="1" presStyleCnt="6">
        <dgm:presLayoutVars>
          <dgm:chMax val="1"/>
          <dgm:chPref val="1"/>
        </dgm:presLayoutVars>
      </dgm:prSet>
      <dgm:spPr/>
    </dgm:pt>
    <dgm:pt modelId="{4E7E5E8C-0FAE-48C8-A31B-732323DFC04D}" type="pres">
      <dgm:prSet presAssocID="{AF967550-EEB5-4D1A-BE3A-41D679A6C714}" presName="sibTrans" presStyleLbl="sibTrans2D1" presStyleIdx="0" presStyleCnt="0"/>
      <dgm:spPr/>
    </dgm:pt>
    <dgm:pt modelId="{A1CC8389-682E-4293-B7A8-A7EF7238B6F9}" type="pres">
      <dgm:prSet presAssocID="{7324E5B3-DA21-4001-A956-EEB44DD7B275}" presName="compNode" presStyleCnt="0"/>
      <dgm:spPr/>
    </dgm:pt>
    <dgm:pt modelId="{5FD0001B-E03E-4F0B-B5AD-159951D249A9}" type="pres">
      <dgm:prSet presAssocID="{7324E5B3-DA21-4001-A956-EEB44DD7B275}" presName="iconBgRect" presStyleLbl="bgShp" presStyleIdx="2" presStyleCnt="6"/>
      <dgm:spPr>
        <a:solidFill>
          <a:srgbClr val="5B6A5E"/>
        </a:solidFill>
      </dgm:spPr>
    </dgm:pt>
    <dgm:pt modelId="{3AFCE580-3C16-48BC-9E27-900E4CBD46FA}" type="pres">
      <dgm:prSet presAssocID="{7324E5B3-DA21-4001-A956-EEB44DD7B275}" presName="iconRect" presStyleLbl="node1" presStyleIdx="2" presStyleCnt="6" custLinFactNeighborX="-1899" custLinFactNeighborY="328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2556519-F846-4671-8BBB-DC365C98168B}" type="pres">
      <dgm:prSet presAssocID="{7324E5B3-DA21-4001-A956-EEB44DD7B275}" presName="spaceRect" presStyleCnt="0"/>
      <dgm:spPr/>
    </dgm:pt>
    <dgm:pt modelId="{37ED599C-460A-4E3A-90D0-D2B9740FEA3E}" type="pres">
      <dgm:prSet presAssocID="{7324E5B3-DA21-4001-A956-EEB44DD7B275}" presName="textRect" presStyleLbl="revTx" presStyleIdx="2" presStyleCnt="6" custScaleX="125348" custLinFactNeighborX="10911" custLinFactNeighborY="0">
        <dgm:presLayoutVars>
          <dgm:chMax val="1"/>
          <dgm:chPref val="1"/>
        </dgm:presLayoutVars>
      </dgm:prSet>
      <dgm:spPr/>
    </dgm:pt>
    <dgm:pt modelId="{D698BF37-91D6-4F6F-AFC7-048A3835CC58}" type="pres">
      <dgm:prSet presAssocID="{A7D803F4-7245-448C-BBEE-8929A195E30A}" presName="sibTrans" presStyleLbl="sibTrans2D1" presStyleIdx="0" presStyleCnt="0"/>
      <dgm:spPr/>
    </dgm:pt>
    <dgm:pt modelId="{DBC1A4C0-DA3E-48C0-BA59-0E40CC093A45}" type="pres">
      <dgm:prSet presAssocID="{27BFDD71-CEDE-4D01-9C07-2F47CD6DB719}" presName="compNode" presStyleCnt="0"/>
      <dgm:spPr/>
    </dgm:pt>
    <dgm:pt modelId="{4967B8C6-A998-49AC-95B7-F649AC9A9E50}" type="pres">
      <dgm:prSet presAssocID="{27BFDD71-CEDE-4D01-9C07-2F47CD6DB719}" presName="iconBgRect" presStyleLbl="bgShp" presStyleIdx="3" presStyleCnt="6"/>
      <dgm:spPr>
        <a:solidFill>
          <a:srgbClr val="5B6A5E"/>
        </a:solidFill>
      </dgm:spPr>
    </dgm:pt>
    <dgm:pt modelId="{21E94EF9-3092-46C0-902A-D5E23E6036F1}" type="pres">
      <dgm:prSet presAssocID="{27BFDD71-CEDE-4D01-9C07-2F47CD6DB719}" presName="iconRect" presStyleLbl="node1" presStyleIdx="3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9D2B25-78D6-4F97-B6E9-E315E5FC03D6}" type="pres">
      <dgm:prSet presAssocID="{27BFDD71-CEDE-4D01-9C07-2F47CD6DB719}" presName="spaceRect" presStyleCnt="0"/>
      <dgm:spPr/>
    </dgm:pt>
    <dgm:pt modelId="{41D2CA8D-FB0D-4722-A084-D094CE6D99E7}" type="pres">
      <dgm:prSet presAssocID="{27BFDD71-CEDE-4D01-9C07-2F47CD6DB719}" presName="textRect" presStyleLbl="revTx" presStyleIdx="3" presStyleCnt="6">
        <dgm:presLayoutVars>
          <dgm:chMax val="1"/>
          <dgm:chPref val="1"/>
        </dgm:presLayoutVars>
      </dgm:prSet>
      <dgm:spPr/>
    </dgm:pt>
    <dgm:pt modelId="{F6545825-D5F2-4991-86C3-FB2195D5B1CC}" type="pres">
      <dgm:prSet presAssocID="{D72A7636-7C1E-4CC2-B847-7512CCBBDB6B}" presName="sibTrans" presStyleLbl="sibTrans2D1" presStyleIdx="0" presStyleCnt="0"/>
      <dgm:spPr/>
    </dgm:pt>
    <dgm:pt modelId="{207E3936-7CE0-4711-B83D-B4B1353B539E}" type="pres">
      <dgm:prSet presAssocID="{CAB65F97-B90D-4DAE-9141-544DA80557D8}" presName="compNode" presStyleCnt="0"/>
      <dgm:spPr/>
    </dgm:pt>
    <dgm:pt modelId="{E7564F7A-0C0E-4468-BF79-E2EE8D22C2FC}" type="pres">
      <dgm:prSet presAssocID="{CAB65F97-B90D-4DAE-9141-544DA80557D8}" presName="iconBgRect" presStyleLbl="bgShp" presStyleIdx="4" presStyleCnt="6"/>
      <dgm:spPr>
        <a:solidFill>
          <a:srgbClr val="5B6A5E"/>
        </a:solidFill>
      </dgm:spPr>
    </dgm:pt>
    <dgm:pt modelId="{93BFA15F-E195-4C91-B3A7-299D01CCCDE2}" type="pres">
      <dgm:prSet presAssocID="{CAB65F97-B90D-4DAE-9141-544DA80557D8}" presName="iconRect" presStyleLbl="node1" presStyleIdx="4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6D04DCB-5474-401D-8D18-304BA546541C}" type="pres">
      <dgm:prSet presAssocID="{CAB65F97-B90D-4DAE-9141-544DA80557D8}" presName="spaceRect" presStyleCnt="0"/>
      <dgm:spPr/>
    </dgm:pt>
    <dgm:pt modelId="{3AF60BD0-F35A-4F88-9DD7-AAC8855DF58A}" type="pres">
      <dgm:prSet presAssocID="{CAB65F97-B90D-4DAE-9141-544DA80557D8}" presName="textRect" presStyleLbl="revTx" presStyleIdx="4" presStyleCnt="6" custScaleX="128822" custLinFactNeighborX="12840" custLinFactNeighborY="-2882">
        <dgm:presLayoutVars>
          <dgm:chMax val="1"/>
          <dgm:chPref val="1"/>
        </dgm:presLayoutVars>
      </dgm:prSet>
      <dgm:spPr/>
    </dgm:pt>
    <dgm:pt modelId="{6440B959-11C8-4E7A-8B40-2BDEB300EDE6}" type="pres">
      <dgm:prSet presAssocID="{2C88ACE3-7552-4F73-917E-01BB10ABE5ED}" presName="sibTrans" presStyleLbl="sibTrans2D1" presStyleIdx="0" presStyleCnt="0"/>
      <dgm:spPr/>
    </dgm:pt>
    <dgm:pt modelId="{09862CC5-3D47-473C-91A7-B3A89F88332B}" type="pres">
      <dgm:prSet presAssocID="{C74A9058-B7CC-4915-A034-2F99EC7FE7D9}" presName="compNode" presStyleCnt="0"/>
      <dgm:spPr/>
    </dgm:pt>
    <dgm:pt modelId="{307F668C-7060-40C5-8E9B-30265F1D9682}" type="pres">
      <dgm:prSet presAssocID="{C74A9058-B7CC-4915-A034-2F99EC7FE7D9}" presName="iconBgRect" presStyleLbl="bgShp" presStyleIdx="5" presStyleCnt="6"/>
      <dgm:spPr>
        <a:solidFill>
          <a:srgbClr val="5B6A5E"/>
        </a:solidFill>
      </dgm:spPr>
    </dgm:pt>
    <dgm:pt modelId="{034C7060-0B63-42AD-8367-B82BC74E4222}" type="pres">
      <dgm:prSet presAssocID="{C74A9058-B7CC-4915-A034-2F99EC7FE7D9}" presName="iconRect" presStyleLbl="node1" presStyleIdx="5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9CBAF4-5F89-4DBC-AF0A-79D8188981CA}" type="pres">
      <dgm:prSet presAssocID="{C74A9058-B7CC-4915-A034-2F99EC7FE7D9}" presName="spaceRect" presStyleCnt="0"/>
      <dgm:spPr/>
    </dgm:pt>
    <dgm:pt modelId="{4F54A5D5-F4A7-4B7D-B011-2F17731D3EC4}" type="pres">
      <dgm:prSet presAssocID="{C74A9058-B7CC-4915-A034-2F99EC7FE7D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DD06C0C-68C8-4333-9F11-6DB2B5344C61}" srcId="{217045C1-8703-4ABD-8AB9-3FB734A8F512}" destId="{C74A9058-B7CC-4915-A034-2F99EC7FE7D9}" srcOrd="5" destOrd="0" parTransId="{B07576AC-4DE9-45C0-B436-48C95AEA3F72}" sibTransId="{53BF06CB-E469-4BCA-840C-E1055423856C}"/>
    <dgm:cxn modelId="{2BE45514-1992-47C7-A5C7-BDEBCBE1EC5C}" type="presOf" srcId="{217045C1-8703-4ABD-8AB9-3FB734A8F512}" destId="{93E710CC-9B9A-46C2-AB28-2E3DC2A01471}" srcOrd="0" destOrd="0" presId="urn:microsoft.com/office/officeart/2018/2/layout/IconCircleList"/>
    <dgm:cxn modelId="{FBE4C914-6945-42E3-86F3-ABDF2A856781}" type="presOf" srcId="{CAB65F97-B90D-4DAE-9141-544DA80557D8}" destId="{3AF60BD0-F35A-4F88-9DD7-AAC8855DF58A}" srcOrd="0" destOrd="0" presId="urn:microsoft.com/office/officeart/2018/2/layout/IconCircleList"/>
    <dgm:cxn modelId="{A907E332-D7C6-42B7-9801-E335469CFC8C}" type="presOf" srcId="{8AA9CABF-4BA4-4E01-A320-077EEECDB44F}" destId="{84CBCBB9-77EF-4712-840B-77C6C349EB9D}" srcOrd="0" destOrd="0" presId="urn:microsoft.com/office/officeart/2018/2/layout/IconCircleList"/>
    <dgm:cxn modelId="{0FC22E40-6ED6-4649-851C-4515AFBD2342}" type="presOf" srcId="{27BFDD71-CEDE-4D01-9C07-2F47CD6DB719}" destId="{41D2CA8D-FB0D-4722-A084-D094CE6D99E7}" srcOrd="0" destOrd="0" presId="urn:microsoft.com/office/officeart/2018/2/layout/IconCircleList"/>
    <dgm:cxn modelId="{1372B85E-B425-4F8B-A2C9-4756011815DC}" srcId="{217045C1-8703-4ABD-8AB9-3FB734A8F512}" destId="{9A2E852A-F533-41A3-97F2-AF4068548AC1}" srcOrd="1" destOrd="0" parTransId="{CB104BFE-1D3D-4FE0-8511-2223B72DA13A}" sibTransId="{AF967550-EEB5-4D1A-BE3A-41D679A6C714}"/>
    <dgm:cxn modelId="{6AAAF465-CEE6-4FC1-A201-AE6C106B1631}" type="presOf" srcId="{50250722-AFD5-4EBA-9DC3-3E1E2D4E1A8F}" destId="{22F6E6BE-11CA-4B07-AE25-F60BB72F9B9D}" srcOrd="0" destOrd="0" presId="urn:microsoft.com/office/officeart/2018/2/layout/IconCircleList"/>
    <dgm:cxn modelId="{7FA0C168-2058-44C7-A43E-100733CA2011}" type="presOf" srcId="{9A2E852A-F533-41A3-97F2-AF4068548AC1}" destId="{38ED4120-BF1F-453C-A116-343922EAE190}" srcOrd="0" destOrd="0" presId="urn:microsoft.com/office/officeart/2018/2/layout/IconCircleList"/>
    <dgm:cxn modelId="{82DDDB6C-41DE-4354-A156-F282CA8C1D6A}" srcId="{217045C1-8703-4ABD-8AB9-3FB734A8F512}" destId="{8AA9CABF-4BA4-4E01-A320-077EEECDB44F}" srcOrd="0" destOrd="0" parTransId="{55450506-44E8-4874-88F8-75AF5FBFE223}" sibTransId="{50250722-AFD5-4EBA-9DC3-3E1E2D4E1A8F}"/>
    <dgm:cxn modelId="{5B2BC855-A38B-418C-B3A8-C95DF3BFBC1C}" srcId="{217045C1-8703-4ABD-8AB9-3FB734A8F512}" destId="{27BFDD71-CEDE-4D01-9C07-2F47CD6DB719}" srcOrd="3" destOrd="0" parTransId="{9615D824-1C52-4E85-BBFD-5B09B24F3684}" sibTransId="{D72A7636-7C1E-4CC2-B847-7512CCBBDB6B}"/>
    <dgm:cxn modelId="{CBD5DA90-320C-40EE-AF59-358FB19E0F45}" srcId="{217045C1-8703-4ABD-8AB9-3FB734A8F512}" destId="{7324E5B3-DA21-4001-A956-EEB44DD7B275}" srcOrd="2" destOrd="0" parTransId="{D1201F54-BD2E-4DE7-B70F-99D8CE2C1AED}" sibTransId="{A7D803F4-7245-448C-BBEE-8929A195E30A}"/>
    <dgm:cxn modelId="{1114329F-23F5-4880-8F87-B16C69BC66E2}" type="presOf" srcId="{2C88ACE3-7552-4F73-917E-01BB10ABE5ED}" destId="{6440B959-11C8-4E7A-8B40-2BDEB300EDE6}" srcOrd="0" destOrd="0" presId="urn:microsoft.com/office/officeart/2018/2/layout/IconCircleList"/>
    <dgm:cxn modelId="{C53296B5-8393-4BB4-B1BE-DA363A015DC6}" srcId="{217045C1-8703-4ABD-8AB9-3FB734A8F512}" destId="{CAB65F97-B90D-4DAE-9141-544DA80557D8}" srcOrd="4" destOrd="0" parTransId="{D2A61694-1E62-4361-93E6-58BF29CCE2F8}" sibTransId="{2C88ACE3-7552-4F73-917E-01BB10ABE5ED}"/>
    <dgm:cxn modelId="{51B8B6C9-C28B-4FA4-A14A-F21DD96F1387}" type="presOf" srcId="{7324E5B3-DA21-4001-A956-EEB44DD7B275}" destId="{37ED599C-460A-4E3A-90D0-D2B9740FEA3E}" srcOrd="0" destOrd="0" presId="urn:microsoft.com/office/officeart/2018/2/layout/IconCircleList"/>
    <dgm:cxn modelId="{335257E6-52F9-4D93-8E90-04D925549527}" type="presOf" srcId="{AF967550-EEB5-4D1A-BE3A-41D679A6C714}" destId="{4E7E5E8C-0FAE-48C8-A31B-732323DFC04D}" srcOrd="0" destOrd="0" presId="urn:microsoft.com/office/officeart/2018/2/layout/IconCircleList"/>
    <dgm:cxn modelId="{0EAE97EE-F9EE-4A23-8035-134A7FB0A1DF}" type="presOf" srcId="{A7D803F4-7245-448C-BBEE-8929A195E30A}" destId="{D698BF37-91D6-4F6F-AFC7-048A3835CC58}" srcOrd="0" destOrd="0" presId="urn:microsoft.com/office/officeart/2018/2/layout/IconCircleList"/>
    <dgm:cxn modelId="{188B91F1-2F38-434D-83F1-1B512BFEE126}" type="presOf" srcId="{D72A7636-7C1E-4CC2-B847-7512CCBBDB6B}" destId="{F6545825-D5F2-4991-86C3-FB2195D5B1CC}" srcOrd="0" destOrd="0" presId="urn:microsoft.com/office/officeart/2018/2/layout/IconCircleList"/>
    <dgm:cxn modelId="{1993F1F9-FE19-45D5-A790-1D074F269DB0}" type="presOf" srcId="{C74A9058-B7CC-4915-A034-2F99EC7FE7D9}" destId="{4F54A5D5-F4A7-4B7D-B011-2F17731D3EC4}" srcOrd="0" destOrd="0" presId="urn:microsoft.com/office/officeart/2018/2/layout/IconCircleList"/>
    <dgm:cxn modelId="{9B48C475-8479-40FC-97B5-85A90FBB5463}" type="presParOf" srcId="{93E710CC-9B9A-46C2-AB28-2E3DC2A01471}" destId="{349C801C-7BF7-4779-A661-760ACEF151AD}" srcOrd="0" destOrd="0" presId="urn:microsoft.com/office/officeart/2018/2/layout/IconCircleList"/>
    <dgm:cxn modelId="{371999AC-2290-4B8D-B895-EBA96A5025E9}" type="presParOf" srcId="{349C801C-7BF7-4779-A661-760ACEF151AD}" destId="{3BE17CF7-2ED5-4DA4-B0DF-5C19EB84A045}" srcOrd="0" destOrd="0" presId="urn:microsoft.com/office/officeart/2018/2/layout/IconCircleList"/>
    <dgm:cxn modelId="{33755B67-6D57-4D14-B495-D0AEAD26DC21}" type="presParOf" srcId="{3BE17CF7-2ED5-4DA4-B0DF-5C19EB84A045}" destId="{BC0E5732-C891-4AE5-9C0F-23127C80B05A}" srcOrd="0" destOrd="0" presId="urn:microsoft.com/office/officeart/2018/2/layout/IconCircleList"/>
    <dgm:cxn modelId="{4C6022F8-D7C7-4DA9-A07D-41450F86A2BB}" type="presParOf" srcId="{3BE17CF7-2ED5-4DA4-B0DF-5C19EB84A045}" destId="{2BE090DA-8BB9-48F2-99BE-B94D93DBB5A3}" srcOrd="1" destOrd="0" presId="urn:microsoft.com/office/officeart/2018/2/layout/IconCircleList"/>
    <dgm:cxn modelId="{5A363E11-E486-4921-B855-D34E1B5AE598}" type="presParOf" srcId="{3BE17CF7-2ED5-4DA4-B0DF-5C19EB84A045}" destId="{6E845B16-6FA0-4078-A58C-47F312D44EBC}" srcOrd="2" destOrd="0" presId="urn:microsoft.com/office/officeart/2018/2/layout/IconCircleList"/>
    <dgm:cxn modelId="{499BEA73-ACFF-4308-A28E-BFDCAC79F7FD}" type="presParOf" srcId="{3BE17CF7-2ED5-4DA4-B0DF-5C19EB84A045}" destId="{84CBCBB9-77EF-4712-840B-77C6C349EB9D}" srcOrd="3" destOrd="0" presId="urn:microsoft.com/office/officeart/2018/2/layout/IconCircleList"/>
    <dgm:cxn modelId="{58D982DC-A47C-4E90-BEBD-670BB34FEBBA}" type="presParOf" srcId="{349C801C-7BF7-4779-A661-760ACEF151AD}" destId="{22F6E6BE-11CA-4B07-AE25-F60BB72F9B9D}" srcOrd="1" destOrd="0" presId="urn:microsoft.com/office/officeart/2018/2/layout/IconCircleList"/>
    <dgm:cxn modelId="{C9E22AC5-DFC6-4C8C-9A56-D8BF1770EE4C}" type="presParOf" srcId="{349C801C-7BF7-4779-A661-760ACEF151AD}" destId="{EB42C3B5-E530-4C04-B683-B9E27B076230}" srcOrd="2" destOrd="0" presId="urn:microsoft.com/office/officeart/2018/2/layout/IconCircleList"/>
    <dgm:cxn modelId="{85448401-2D0F-4905-A35E-AD2ABD19FD50}" type="presParOf" srcId="{EB42C3B5-E530-4C04-B683-B9E27B076230}" destId="{BD7EA5CE-EA62-4BA6-9F3D-6FA13EA7101A}" srcOrd="0" destOrd="0" presId="urn:microsoft.com/office/officeart/2018/2/layout/IconCircleList"/>
    <dgm:cxn modelId="{470E3DA4-0885-438F-8A6B-3E3A20FA9154}" type="presParOf" srcId="{EB42C3B5-E530-4C04-B683-B9E27B076230}" destId="{3C0C3920-0EA4-40B0-BC4F-7036D72B0AE6}" srcOrd="1" destOrd="0" presId="urn:microsoft.com/office/officeart/2018/2/layout/IconCircleList"/>
    <dgm:cxn modelId="{7BBB2DEF-381A-4FCD-8F6D-48815655EE25}" type="presParOf" srcId="{EB42C3B5-E530-4C04-B683-B9E27B076230}" destId="{568EC318-E36C-49B7-AB55-7FF3DACC84BF}" srcOrd="2" destOrd="0" presId="urn:microsoft.com/office/officeart/2018/2/layout/IconCircleList"/>
    <dgm:cxn modelId="{D17B6491-78A0-4C3C-949B-000A38221658}" type="presParOf" srcId="{EB42C3B5-E530-4C04-B683-B9E27B076230}" destId="{38ED4120-BF1F-453C-A116-343922EAE190}" srcOrd="3" destOrd="0" presId="urn:microsoft.com/office/officeart/2018/2/layout/IconCircleList"/>
    <dgm:cxn modelId="{1A3F9D9B-C05F-4992-867C-2D3BC10587CE}" type="presParOf" srcId="{349C801C-7BF7-4779-A661-760ACEF151AD}" destId="{4E7E5E8C-0FAE-48C8-A31B-732323DFC04D}" srcOrd="3" destOrd="0" presId="urn:microsoft.com/office/officeart/2018/2/layout/IconCircleList"/>
    <dgm:cxn modelId="{216B40CC-32DC-4D37-A347-DB440E0518E6}" type="presParOf" srcId="{349C801C-7BF7-4779-A661-760ACEF151AD}" destId="{A1CC8389-682E-4293-B7A8-A7EF7238B6F9}" srcOrd="4" destOrd="0" presId="urn:microsoft.com/office/officeart/2018/2/layout/IconCircleList"/>
    <dgm:cxn modelId="{C3E9BE60-CDBC-49A6-B569-067B6EBF3397}" type="presParOf" srcId="{A1CC8389-682E-4293-B7A8-A7EF7238B6F9}" destId="{5FD0001B-E03E-4F0B-B5AD-159951D249A9}" srcOrd="0" destOrd="0" presId="urn:microsoft.com/office/officeart/2018/2/layout/IconCircleList"/>
    <dgm:cxn modelId="{D8931D17-8C4E-4BE6-A9BD-84C6168927F4}" type="presParOf" srcId="{A1CC8389-682E-4293-B7A8-A7EF7238B6F9}" destId="{3AFCE580-3C16-48BC-9E27-900E4CBD46FA}" srcOrd="1" destOrd="0" presId="urn:microsoft.com/office/officeart/2018/2/layout/IconCircleList"/>
    <dgm:cxn modelId="{85946985-9503-4B3D-A655-331EB509869D}" type="presParOf" srcId="{A1CC8389-682E-4293-B7A8-A7EF7238B6F9}" destId="{F2556519-F846-4671-8BBB-DC365C98168B}" srcOrd="2" destOrd="0" presId="urn:microsoft.com/office/officeart/2018/2/layout/IconCircleList"/>
    <dgm:cxn modelId="{A657F8E3-29EC-457E-B5B1-1175F5B0D180}" type="presParOf" srcId="{A1CC8389-682E-4293-B7A8-A7EF7238B6F9}" destId="{37ED599C-460A-4E3A-90D0-D2B9740FEA3E}" srcOrd="3" destOrd="0" presId="urn:microsoft.com/office/officeart/2018/2/layout/IconCircleList"/>
    <dgm:cxn modelId="{F2D586A9-1A39-480A-83BB-2C305A6D43F5}" type="presParOf" srcId="{349C801C-7BF7-4779-A661-760ACEF151AD}" destId="{D698BF37-91D6-4F6F-AFC7-048A3835CC58}" srcOrd="5" destOrd="0" presId="urn:microsoft.com/office/officeart/2018/2/layout/IconCircleList"/>
    <dgm:cxn modelId="{7FBF98B7-E91E-4ADD-B9EB-E2A64C86BA25}" type="presParOf" srcId="{349C801C-7BF7-4779-A661-760ACEF151AD}" destId="{DBC1A4C0-DA3E-48C0-BA59-0E40CC093A45}" srcOrd="6" destOrd="0" presId="urn:microsoft.com/office/officeart/2018/2/layout/IconCircleList"/>
    <dgm:cxn modelId="{A332C2B0-E1EB-44D8-AB71-4CA25C114E9E}" type="presParOf" srcId="{DBC1A4C0-DA3E-48C0-BA59-0E40CC093A45}" destId="{4967B8C6-A998-49AC-95B7-F649AC9A9E50}" srcOrd="0" destOrd="0" presId="urn:microsoft.com/office/officeart/2018/2/layout/IconCircleList"/>
    <dgm:cxn modelId="{D6E6910D-C88D-4A84-8631-080A34ABC860}" type="presParOf" srcId="{DBC1A4C0-DA3E-48C0-BA59-0E40CC093A45}" destId="{21E94EF9-3092-46C0-902A-D5E23E6036F1}" srcOrd="1" destOrd="0" presId="urn:microsoft.com/office/officeart/2018/2/layout/IconCircleList"/>
    <dgm:cxn modelId="{C1BA3F82-A8FD-4CC9-9AF5-C006402FFD2A}" type="presParOf" srcId="{DBC1A4C0-DA3E-48C0-BA59-0E40CC093A45}" destId="{2D9D2B25-78D6-4F97-B6E9-E315E5FC03D6}" srcOrd="2" destOrd="0" presId="urn:microsoft.com/office/officeart/2018/2/layout/IconCircleList"/>
    <dgm:cxn modelId="{44138193-455A-4EBD-8D75-E1465026F45D}" type="presParOf" srcId="{DBC1A4C0-DA3E-48C0-BA59-0E40CC093A45}" destId="{41D2CA8D-FB0D-4722-A084-D094CE6D99E7}" srcOrd="3" destOrd="0" presId="urn:microsoft.com/office/officeart/2018/2/layout/IconCircleList"/>
    <dgm:cxn modelId="{C992D148-0A6C-4963-9FA1-FFF70B34839C}" type="presParOf" srcId="{349C801C-7BF7-4779-A661-760ACEF151AD}" destId="{F6545825-D5F2-4991-86C3-FB2195D5B1CC}" srcOrd="7" destOrd="0" presId="urn:microsoft.com/office/officeart/2018/2/layout/IconCircleList"/>
    <dgm:cxn modelId="{E3BC2A37-BDA4-4AF0-B82F-C3F92A5E4703}" type="presParOf" srcId="{349C801C-7BF7-4779-A661-760ACEF151AD}" destId="{207E3936-7CE0-4711-B83D-B4B1353B539E}" srcOrd="8" destOrd="0" presId="urn:microsoft.com/office/officeart/2018/2/layout/IconCircleList"/>
    <dgm:cxn modelId="{CA3E97BE-99DB-41F1-9BF3-3497BC6D4246}" type="presParOf" srcId="{207E3936-7CE0-4711-B83D-B4B1353B539E}" destId="{E7564F7A-0C0E-4468-BF79-E2EE8D22C2FC}" srcOrd="0" destOrd="0" presId="urn:microsoft.com/office/officeart/2018/2/layout/IconCircleList"/>
    <dgm:cxn modelId="{7C942163-809A-40B3-852B-6ED5ED73C9F3}" type="presParOf" srcId="{207E3936-7CE0-4711-B83D-B4B1353B539E}" destId="{93BFA15F-E195-4C91-B3A7-299D01CCCDE2}" srcOrd="1" destOrd="0" presId="urn:microsoft.com/office/officeart/2018/2/layout/IconCircleList"/>
    <dgm:cxn modelId="{0599BDDD-406F-4D4B-9215-73D7331B5213}" type="presParOf" srcId="{207E3936-7CE0-4711-B83D-B4B1353B539E}" destId="{C6D04DCB-5474-401D-8D18-304BA546541C}" srcOrd="2" destOrd="0" presId="urn:microsoft.com/office/officeart/2018/2/layout/IconCircleList"/>
    <dgm:cxn modelId="{EBEA14C0-E4EF-41D3-824C-CAEC53E95594}" type="presParOf" srcId="{207E3936-7CE0-4711-B83D-B4B1353B539E}" destId="{3AF60BD0-F35A-4F88-9DD7-AAC8855DF58A}" srcOrd="3" destOrd="0" presId="urn:microsoft.com/office/officeart/2018/2/layout/IconCircleList"/>
    <dgm:cxn modelId="{3D89693C-C5AA-4AC3-B121-C0C60C688557}" type="presParOf" srcId="{349C801C-7BF7-4779-A661-760ACEF151AD}" destId="{6440B959-11C8-4E7A-8B40-2BDEB300EDE6}" srcOrd="9" destOrd="0" presId="urn:microsoft.com/office/officeart/2018/2/layout/IconCircleList"/>
    <dgm:cxn modelId="{EDEDF8D4-AD40-4692-AD19-A2D0FC5E8A27}" type="presParOf" srcId="{349C801C-7BF7-4779-A661-760ACEF151AD}" destId="{09862CC5-3D47-473C-91A7-B3A89F88332B}" srcOrd="10" destOrd="0" presId="urn:microsoft.com/office/officeart/2018/2/layout/IconCircleList"/>
    <dgm:cxn modelId="{1A2B9B67-4C1E-4BEB-8C36-3DCC25550133}" type="presParOf" srcId="{09862CC5-3D47-473C-91A7-B3A89F88332B}" destId="{307F668C-7060-40C5-8E9B-30265F1D9682}" srcOrd="0" destOrd="0" presId="urn:microsoft.com/office/officeart/2018/2/layout/IconCircleList"/>
    <dgm:cxn modelId="{87E883DA-A064-48CF-BD8D-C32E1F0E240B}" type="presParOf" srcId="{09862CC5-3D47-473C-91A7-B3A89F88332B}" destId="{034C7060-0B63-42AD-8367-B82BC74E4222}" srcOrd="1" destOrd="0" presId="urn:microsoft.com/office/officeart/2018/2/layout/IconCircleList"/>
    <dgm:cxn modelId="{A8CFD37A-1E8D-4E04-85D0-739392DE8497}" type="presParOf" srcId="{09862CC5-3D47-473C-91A7-B3A89F88332B}" destId="{009CBAF4-5F89-4DBC-AF0A-79D8188981CA}" srcOrd="2" destOrd="0" presId="urn:microsoft.com/office/officeart/2018/2/layout/IconCircleList"/>
    <dgm:cxn modelId="{6B0C8EA7-5B4C-4A38-AD3B-206469E44283}" type="presParOf" srcId="{09862CC5-3D47-473C-91A7-B3A89F88332B}" destId="{4F54A5D5-F4A7-4B7D-B011-2F17731D3EC4}" srcOrd="3" destOrd="0" presId="urn:microsoft.com/office/officeart/2018/2/layout/IconCircle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E5732-C891-4AE5-9C0F-23127C80B05A}">
      <dsp:nvSpPr>
        <dsp:cNvPr id="0" name=""/>
        <dsp:cNvSpPr/>
      </dsp:nvSpPr>
      <dsp:spPr>
        <a:xfrm>
          <a:off x="836421" y="64057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090DA-8BB9-48F2-99BE-B94D93DBB5A3}">
      <dsp:nvSpPr>
        <dsp:cNvPr id="0" name=""/>
        <dsp:cNvSpPr/>
      </dsp:nvSpPr>
      <dsp:spPr>
        <a:xfrm>
          <a:off x="1006963" y="234599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BCBB9-77EF-4712-840B-77C6C349EB9D}">
      <dsp:nvSpPr>
        <dsp:cNvPr id="0" name=""/>
        <dsp:cNvSpPr/>
      </dsp:nvSpPr>
      <dsp:spPr>
        <a:xfrm>
          <a:off x="1796103" y="75760"/>
          <a:ext cx="2390684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 Statement</a:t>
          </a:r>
          <a:endParaRPr lang="en-US" sz="2000" kern="1200" dirty="0"/>
        </a:p>
      </dsp:txBody>
      <dsp:txXfrm>
        <a:off x="1796103" y="75760"/>
        <a:ext cx="2390684" cy="812104"/>
      </dsp:txXfrm>
    </dsp:sp>
    <dsp:sp modelId="{BD7EA5CE-EA62-4BA6-9F3D-6FA13EA7101A}">
      <dsp:nvSpPr>
        <dsp:cNvPr id="0" name=""/>
        <dsp:cNvSpPr/>
      </dsp:nvSpPr>
      <dsp:spPr>
        <a:xfrm>
          <a:off x="4308557" y="64057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C3920-0EA4-40B0-BC4F-7036D72B0AE6}">
      <dsp:nvSpPr>
        <dsp:cNvPr id="0" name=""/>
        <dsp:cNvSpPr/>
      </dsp:nvSpPr>
      <dsp:spPr>
        <a:xfrm>
          <a:off x="4479100" y="234599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D4120-BF1F-453C-A116-343922EAE190}">
      <dsp:nvSpPr>
        <dsp:cNvPr id="0" name=""/>
        <dsp:cNvSpPr/>
      </dsp:nvSpPr>
      <dsp:spPr>
        <a:xfrm>
          <a:off x="5294685" y="64057"/>
          <a:ext cx="1914247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Overview</a:t>
          </a:r>
          <a:endParaRPr lang="en-US" sz="2000" kern="1200" dirty="0"/>
        </a:p>
      </dsp:txBody>
      <dsp:txXfrm>
        <a:off x="5294685" y="64057"/>
        <a:ext cx="1914247" cy="812104"/>
      </dsp:txXfrm>
    </dsp:sp>
    <dsp:sp modelId="{5FD0001B-E03E-4F0B-B5AD-159951D249A9}">
      <dsp:nvSpPr>
        <dsp:cNvPr id="0" name=""/>
        <dsp:cNvSpPr/>
      </dsp:nvSpPr>
      <dsp:spPr>
        <a:xfrm>
          <a:off x="836421" y="1536698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CE580-3C16-48BC-9E27-900E4CBD46FA}">
      <dsp:nvSpPr>
        <dsp:cNvPr id="0" name=""/>
        <dsp:cNvSpPr/>
      </dsp:nvSpPr>
      <dsp:spPr>
        <a:xfrm>
          <a:off x="998018" y="1722698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D599C-460A-4E3A-90D0-D2B9740FEA3E}">
      <dsp:nvSpPr>
        <dsp:cNvPr id="0" name=""/>
        <dsp:cNvSpPr/>
      </dsp:nvSpPr>
      <dsp:spPr>
        <a:xfrm>
          <a:off x="1788800" y="1536698"/>
          <a:ext cx="2399470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Workflow</a:t>
          </a:r>
          <a:endParaRPr lang="en-US" sz="2000" kern="1200" dirty="0"/>
        </a:p>
      </dsp:txBody>
      <dsp:txXfrm>
        <a:off x="1788800" y="1536698"/>
        <a:ext cx="2399470" cy="812104"/>
      </dsp:txXfrm>
    </dsp:sp>
    <dsp:sp modelId="{4967B8C6-A998-49AC-95B7-F649AC9A9E50}">
      <dsp:nvSpPr>
        <dsp:cNvPr id="0" name=""/>
        <dsp:cNvSpPr/>
      </dsp:nvSpPr>
      <dsp:spPr>
        <a:xfrm>
          <a:off x="4312951" y="1536698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E94EF9-3092-46C0-902A-D5E23E6036F1}">
      <dsp:nvSpPr>
        <dsp:cNvPr id="0" name=""/>
        <dsp:cNvSpPr/>
      </dsp:nvSpPr>
      <dsp:spPr>
        <a:xfrm>
          <a:off x="4483493" y="1707240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2CA8D-FB0D-4722-A084-D094CE6D99E7}">
      <dsp:nvSpPr>
        <dsp:cNvPr id="0" name=""/>
        <dsp:cNvSpPr/>
      </dsp:nvSpPr>
      <dsp:spPr>
        <a:xfrm>
          <a:off x="5299078" y="1536698"/>
          <a:ext cx="1914247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Key Metrics &amp; Insights</a:t>
          </a:r>
          <a:endParaRPr lang="en-US" sz="2000" kern="1200" dirty="0"/>
        </a:p>
      </dsp:txBody>
      <dsp:txXfrm>
        <a:off x="5299078" y="1536698"/>
        <a:ext cx="1914247" cy="812104"/>
      </dsp:txXfrm>
    </dsp:sp>
    <dsp:sp modelId="{E7564F7A-0C0E-4468-BF79-E2EE8D22C2FC}">
      <dsp:nvSpPr>
        <dsp:cNvPr id="0" name=""/>
        <dsp:cNvSpPr/>
      </dsp:nvSpPr>
      <dsp:spPr>
        <a:xfrm>
          <a:off x="836421" y="3009338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FA15F-E195-4C91-B3A7-299D01CCCDE2}">
      <dsp:nvSpPr>
        <dsp:cNvPr id="0" name=""/>
        <dsp:cNvSpPr/>
      </dsp:nvSpPr>
      <dsp:spPr>
        <a:xfrm>
          <a:off x="1006963" y="3179880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60BD0-F35A-4F88-9DD7-AAC8855DF58A}">
      <dsp:nvSpPr>
        <dsp:cNvPr id="0" name=""/>
        <dsp:cNvSpPr/>
      </dsp:nvSpPr>
      <dsp:spPr>
        <a:xfrm>
          <a:off x="1792476" y="2985933"/>
          <a:ext cx="2465971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Recommendations</a:t>
          </a:r>
          <a:endParaRPr lang="en-US" sz="2000" kern="1200" dirty="0"/>
        </a:p>
      </dsp:txBody>
      <dsp:txXfrm>
        <a:off x="1792476" y="2985933"/>
        <a:ext cx="2465971" cy="812104"/>
      </dsp:txXfrm>
    </dsp:sp>
    <dsp:sp modelId="{307F668C-7060-40C5-8E9B-30265F1D9682}">
      <dsp:nvSpPr>
        <dsp:cNvPr id="0" name=""/>
        <dsp:cNvSpPr/>
      </dsp:nvSpPr>
      <dsp:spPr>
        <a:xfrm>
          <a:off x="4346201" y="3009338"/>
          <a:ext cx="812104" cy="812104"/>
        </a:xfrm>
        <a:prstGeom prst="ellipse">
          <a:avLst/>
        </a:prstGeom>
        <a:solidFill>
          <a:srgbClr val="5B6A5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C7060-0B63-42AD-8367-B82BC74E4222}">
      <dsp:nvSpPr>
        <dsp:cNvPr id="0" name=""/>
        <dsp:cNvSpPr/>
      </dsp:nvSpPr>
      <dsp:spPr>
        <a:xfrm>
          <a:off x="4516743" y="3179880"/>
          <a:ext cx="471020" cy="47102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4A5D5-F4A7-4B7D-B011-2F17731D3EC4}">
      <dsp:nvSpPr>
        <dsp:cNvPr id="0" name=""/>
        <dsp:cNvSpPr/>
      </dsp:nvSpPr>
      <dsp:spPr>
        <a:xfrm>
          <a:off x="5332329" y="3009338"/>
          <a:ext cx="1914247" cy="812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Conclusion</a:t>
          </a:r>
          <a:endParaRPr lang="en-US" sz="2000" kern="1200" dirty="0"/>
        </a:p>
      </dsp:txBody>
      <dsp:txXfrm>
        <a:off x="5332329" y="3009338"/>
        <a:ext cx="1914247" cy="812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2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>
          <p15:clr>
            <a:srgbClr val="F26B43"/>
          </p15:clr>
        </p15:guide>
        <p15:guide id="2" pos="1176">
          <p15:clr>
            <a:srgbClr val="F26B43"/>
          </p15:clr>
        </p15:guide>
        <p15:guide id="3" pos="1296">
          <p15:clr>
            <a:srgbClr val="F26B43"/>
          </p15:clr>
        </p15:guide>
        <p15:guide id="4" pos="1824">
          <p15:clr>
            <a:srgbClr val="F26B43"/>
          </p15:clr>
        </p15:guide>
        <p15:guide id="5" pos="1944">
          <p15:clr>
            <a:srgbClr val="F26B43"/>
          </p15:clr>
        </p15:guide>
        <p15:guide id="6" pos="2472">
          <p15:clr>
            <a:srgbClr val="F26B43"/>
          </p15:clr>
        </p15:guide>
        <p15:guide id="7" pos="2592">
          <p15:clr>
            <a:srgbClr val="F26B43"/>
          </p15:clr>
        </p15:guide>
        <p15:guide id="8" pos="3120">
          <p15:clr>
            <a:srgbClr val="F26B43"/>
          </p15:clr>
        </p15:guide>
        <p15:guide id="9" pos="3240">
          <p15:clr>
            <a:srgbClr val="F26B43"/>
          </p15:clr>
        </p15:guide>
        <p15:guide id="10" pos="3792">
          <p15:clr>
            <a:srgbClr val="F26B43"/>
          </p15:clr>
        </p15:guide>
        <p15:guide id="11" pos="3912">
          <p15:clr>
            <a:srgbClr val="F26B43"/>
          </p15:clr>
        </p15:guide>
        <p15:guide id="12" pos="4416">
          <p15:clr>
            <a:srgbClr val="F26B43"/>
          </p15:clr>
        </p15:guide>
        <p15:guide id="13" pos="4560">
          <p15:clr>
            <a:srgbClr val="F26B43"/>
          </p15:clr>
        </p15:guide>
        <p15:guide id="14" pos="5088">
          <p15:clr>
            <a:srgbClr val="F26B43"/>
          </p15:clr>
        </p15:guide>
        <p15:guide id="15" pos="5208">
          <p15:clr>
            <a:srgbClr val="F26B43"/>
          </p15:clr>
        </p15:guide>
        <p15:guide id="16" pos="5736">
          <p15:clr>
            <a:srgbClr val="F26B43"/>
          </p15:clr>
        </p15:guide>
        <p15:guide id="17" pos="5856">
          <p15:clr>
            <a:srgbClr val="F26B43"/>
          </p15:clr>
        </p15:guide>
        <p15:guide id="18" pos="6384">
          <p15:clr>
            <a:srgbClr val="F26B43"/>
          </p15:clr>
        </p15:guide>
        <p15:guide id="19" pos="6504">
          <p15:clr>
            <a:srgbClr val="F26B43"/>
          </p15:clr>
        </p15:guide>
        <p15:guide id="20" pos="7032">
          <p15:clr>
            <a:srgbClr val="F26B43"/>
          </p15:clr>
        </p15:guide>
        <p15:guide id="21" orient="horz" pos="288">
          <p15:clr>
            <a:srgbClr val="F26B43"/>
          </p15:clr>
        </p15:guide>
        <p15:guide id="22" orient="horz" pos="1128">
          <p15:clr>
            <a:srgbClr val="F26B43"/>
          </p15:clr>
        </p15:guide>
        <p15:guide id="23" orient="horz" pos="1248">
          <p15:clr>
            <a:srgbClr val="F26B43"/>
          </p15:clr>
        </p15:guide>
        <p15:guide id="24" orient="horz" pos="2088">
          <p15:clr>
            <a:srgbClr val="F26B43"/>
          </p15:clr>
        </p15:guide>
        <p15:guide id="25" orient="horz" pos="2232">
          <p15:clr>
            <a:srgbClr val="F26B43"/>
          </p15:clr>
        </p15:guide>
        <p15:guide id="26" orient="horz" pos="3048">
          <p15:clr>
            <a:srgbClr val="F26B43"/>
          </p15:clr>
        </p15:guide>
        <p15:guide id="27" orient="horz" pos="3192">
          <p15:clr>
            <a:srgbClr val="F26B43"/>
          </p15:clr>
        </p15:guide>
        <p15:guide id="28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echnofaq.org/posts/2019/04/analyzing-how-a-social-crm-can-benefit-your-tech-startu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fity.club/lists/suggestions/key-performance-indicator-logo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5131" y="4330042"/>
            <a:ext cx="4175225" cy="13107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LOKESH REDDY CHILUKA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32" y="1315687"/>
            <a:ext cx="5278468" cy="432509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Arial Black" panose="020B0A04020102020204" pitchFamily="34" charset="0"/>
              </a:rPr>
              <a:t>Analytical CRM Development for a Bank</a:t>
            </a:r>
            <a:endParaRPr lang="en-US" sz="4800" dirty="0">
              <a:latin typeface="Arial Black" panose="020B0A040201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2F635-8740-96DF-FFB2-26C75C09C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113" y="371018"/>
            <a:ext cx="6082748" cy="1199366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C9D20-1761-8FBD-30AF-5C09227FA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598771"/>
              </p:ext>
            </p:extLst>
          </p:nvPr>
        </p:nvGraphicFramePr>
        <p:xfrm>
          <a:off x="1504950" y="1824179"/>
          <a:ext cx="8082998" cy="3885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326C-39A5-AE82-EF4F-704BBAEC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785A81-8677-4F41-60E3-9854F3EE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5010"/>
            <a:ext cx="12066104" cy="655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>
                <a:latin typeface="Arial Black" panose="020B0A04020102020204" pitchFamily="34" charset="0"/>
              </a:rPr>
              <a:t>PROBLEM</a:t>
            </a:r>
            <a:r>
              <a:rPr lang="en-US" b="1" dirty="0">
                <a:latin typeface="Arial Black" panose="020B0A04020102020204" pitchFamily="34" charset="0"/>
              </a:rPr>
              <a:t>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37ECF-00B4-D31B-A741-DC8701109675}"/>
              </a:ext>
            </a:extLst>
          </p:cNvPr>
          <p:cNvSpPr txBox="1"/>
          <p:nvPr/>
        </p:nvSpPr>
        <p:spPr>
          <a:xfrm>
            <a:off x="626465" y="1993973"/>
            <a:ext cx="10545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are an analytical CRM (Customer Relationship Management) specialist hired by a bank to extract meaningful insights from customer-related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bank aims to reduce customer churn, improve service delivery, and enhance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datasets provided include customer demographics, transaction details, customer exit information, and active customer profiles.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20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7">
            <a:extLst>
              <a:ext uri="{FF2B5EF4-FFF2-40B4-BE49-F238E27FC236}">
                <a16:creationId xmlns:a16="http://schemas.microsoft.com/office/drawing/2014/main" id="{4346FC97-A448-9FA2-E747-3B381BD21392}"/>
              </a:ext>
            </a:extLst>
          </p:cNvPr>
          <p:cNvSpPr txBox="1">
            <a:spLocks/>
          </p:cNvSpPr>
          <p:nvPr/>
        </p:nvSpPr>
        <p:spPr>
          <a:xfrm>
            <a:off x="0" y="-88548"/>
            <a:ext cx="12192000" cy="1340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IN" b="1" dirty="0">
                <a:latin typeface="Arial Black" panose="020B0A04020102020204" pitchFamily="34" charset="0"/>
              </a:rPr>
              <a:t>Dataset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E60113-5EC1-11B5-186C-2A23381C5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2" y="1053422"/>
            <a:ext cx="10870335" cy="5323628"/>
          </a:xfrm>
          <a:prstGeom prst="rect">
            <a:avLst/>
          </a:prstGeom>
          <a:effectLst>
            <a:outerShdw blurRad="50800" dist="101600" dir="3000000" algn="tl" rotWithShape="0">
              <a:prstClr val="black">
                <a:alpha val="2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8548"/>
            <a:ext cx="12192000" cy="1340615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26E16-EA17-7884-0F79-D14BED1C3335}"/>
              </a:ext>
            </a:extLst>
          </p:cNvPr>
          <p:cNvSpPr txBox="1"/>
          <p:nvPr/>
        </p:nvSpPr>
        <p:spPr>
          <a:xfrm>
            <a:off x="1275162" y="1252067"/>
            <a:ext cx="4061361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initially consisted of multiple datasets, including customer information, credit card details, activity status, geography, and exit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datasets were consolidated and transformed into a single master dataset using Excel Power Query for efficient analysis.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8B4CF-2D2E-ADE2-91FA-08F6B7ADF156}"/>
              </a:ext>
            </a:extLst>
          </p:cNvPr>
          <p:cNvSpPr txBox="1"/>
          <p:nvPr/>
        </p:nvSpPr>
        <p:spPr>
          <a:xfrm>
            <a:off x="6327648" y="1252067"/>
            <a:ext cx="458919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includes key customer attributes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Information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CustomerId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Surname, Gender, Age, Geography)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Account Details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(Tenure, Balance, Number of Products)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Financial Metrics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(Credit Score, Estimated Salary)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Engagement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(Active Status, Credit Card Usage)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Churn Information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(Exited, Exit Category)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08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A371F5-EAAD-4ADC-8D3F-1CBB98D5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639"/>
            <a:ext cx="12058649" cy="780285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ECBC7-2454-9CEB-4C89-FC6733FC2264}"/>
              </a:ext>
            </a:extLst>
          </p:cNvPr>
          <p:cNvSpPr txBox="1"/>
          <p:nvPr/>
        </p:nvSpPr>
        <p:spPr>
          <a:xfrm>
            <a:off x="1532659" y="1997839"/>
            <a:ext cx="3942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Acquisition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multiple source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Excel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Integration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into a unified dataset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91101A-6E32-191A-D209-50B8E9682DB2}"/>
              </a:ext>
            </a:extLst>
          </p:cNvPr>
          <p:cNvSpPr txBox="1"/>
          <p:nvPr/>
        </p:nvSpPr>
        <p:spPr>
          <a:xfrm>
            <a:off x="6716733" y="1997839"/>
            <a:ext cx="3942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Storage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SQL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Visualization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interactive Power BI dashboards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 Generation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support data-driven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3741-836E-81C1-2C78-ED175F62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B700626-D2A8-F594-9028-EEAB96899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66D5DB6-845F-4407-FFF0-47A8D31A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52" y="219571"/>
            <a:ext cx="9740348" cy="1005839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Key Performance Indicators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1B6BB-7537-F121-4783-8BC11931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573" y="1478775"/>
            <a:ext cx="2275192" cy="1294971"/>
          </a:xfrm>
          <a:prstGeom prst="roundRect">
            <a:avLst>
              <a:gd name="adj" fmla="val 887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371E24-9AA8-5D95-8BD7-01C91710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77" y="3280476"/>
            <a:ext cx="2275196" cy="1256866"/>
          </a:xfrm>
          <a:prstGeom prst="roundRect">
            <a:avLst>
              <a:gd name="adj" fmla="val 1052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2FB8B2-85D0-2447-9FEC-96729CC26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573" y="3280476"/>
            <a:ext cx="2271336" cy="1256866"/>
          </a:xfrm>
          <a:prstGeom prst="roundRect">
            <a:avLst>
              <a:gd name="adj" fmla="val 8653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E19143-700A-E26F-ECD4-232A6DC84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284" y="5034133"/>
            <a:ext cx="2271337" cy="1256866"/>
          </a:xfrm>
          <a:prstGeom prst="roundRect">
            <a:avLst>
              <a:gd name="adj" fmla="val 7762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0D167E-8BB3-DA66-8922-F0569A307C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276" y="1478775"/>
            <a:ext cx="2237257" cy="1294971"/>
          </a:xfrm>
          <a:prstGeom prst="roundRect">
            <a:avLst>
              <a:gd name="adj" fmla="val 9557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D712743-0C08-883D-E953-D2E07C9290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6136" y="5044072"/>
            <a:ext cx="2271337" cy="1256866"/>
          </a:xfrm>
          <a:prstGeom prst="roundRect">
            <a:avLst>
              <a:gd name="adj" fmla="val 8653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67E64-2AF8-3A25-90CB-817B479B10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b="7809"/>
          <a:stretch>
            <a:fillRect/>
          </a:stretch>
        </p:blipFill>
        <p:spPr>
          <a:xfrm>
            <a:off x="238728" y="1878495"/>
            <a:ext cx="5815477" cy="35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6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15DA6F-E486-4C5A-B98C-B1ACDA64D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4712" y="6486982"/>
            <a:ext cx="3522406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10" y="86613"/>
            <a:ext cx="12062790" cy="1350301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Geography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1510A-BC70-B5BB-508E-40F6343C1EC8}"/>
              </a:ext>
            </a:extLst>
          </p:cNvPr>
          <p:cNvSpPr txBox="1"/>
          <p:nvPr/>
        </p:nvSpPr>
        <p:spPr>
          <a:xfrm>
            <a:off x="417648" y="1752375"/>
            <a:ext cx="6576857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France has the highest customer base with approximately 5K customers, indicating strong market presence compared to other regions.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Germany and Spain each contribute around 2.5K customers, showing balanced customer distribution across these two geographies.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analysis highlights France as the dominant geography, which can help businesses focus retention and growth strategies region-wise. </a:t>
            </a:r>
          </a:p>
          <a:p>
            <a:pPr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3C7F19-4775-E050-0299-BAD8D0A1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95" y="1901462"/>
            <a:ext cx="4638057" cy="360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888C9-6511-6FB2-DE2C-E6B2C4647BF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1C1F7-BD4F-40C2-FCC3-B0034EE20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E0D79-FE2B-E001-AC5A-F1E2C401A7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5241925" cy="486092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customer joining trend shows consistent growth from 2016 to 2019, increasing from 1,951 customers to 3,313 customers.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significant rise in customer acquisition is observed after 2017, indicating improved customer engagement and business expansion.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upward trend highlights positive business performance and increasing customer interest over the years.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F0241F-74D6-5D43-7E97-C68DC3A8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Customer Acquisition Trend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CDCA8-A70F-820A-1B72-3DA05766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78" y="1625600"/>
            <a:ext cx="5536096" cy="397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6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4EBCD-C118-2FD6-2CB7-8741C2DFF02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4A9809-6C6B-884E-DD6F-C1C450E3C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76A96-9286-5AC4-6C09-638248F3D9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5626237" cy="486092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a Fair credit score category represent the highest customer count at approximately 3.3K customers.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Good and Poor credit score categories each contribute around 2.4K customers, showing moderate customer distribution.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Very Good and Excellent credit scores are comparatively lower, indicating that most customers fall within average credit score ranges.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03DAB-E775-5546-864A-C45478EE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Customer Distribution by Credit Score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7241B1-558B-D2BF-973B-DB6EB7F1D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528" y="1625600"/>
            <a:ext cx="4664472" cy="40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29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4CA50-5DFB-551A-EC9D-487DD0291F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AB1C94-04C7-2E09-9F2A-88E3E09D2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2765BC-9B35-7F03-EDC9-1DD598E2B26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85800" y="1302028"/>
            <a:ext cx="10634870" cy="508883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7D6342-8FDF-DF9B-8D1B-5781CF5C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57"/>
            <a:ext cx="12192000" cy="974337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Churn Analysis Dashboard</a:t>
            </a:r>
          </a:p>
        </p:txBody>
      </p:sp>
    </p:spTree>
    <p:extLst>
      <p:ext uri="{BB962C8B-B14F-4D97-AF65-F5344CB8AC3E}">
        <p14:creationId xmlns:p14="http://schemas.microsoft.com/office/powerpoint/2010/main" val="377120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0C766-539A-038A-6F6F-0E21FAD06FF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6FA74E-284F-9FCC-1886-D52667A4A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C5CC6-CAAB-7096-2852-60C994A5C6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5241925" cy="48609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in the 30–50 age group show the highest churn count at approximately 1.3K customers, indicating higher customer attrition in this segment. 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50+ age category contributes around 0.6K churned customers, showing moderate churn behavior among senior customers. 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aged 18–30 have the lowest churn count, suggesting better retention among younger customers. </a:t>
            </a:r>
          </a:p>
          <a:p>
            <a:pPr marL="0" indent="0">
              <a:lnSpc>
                <a:spcPct val="17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2BE6EA-76DE-F755-F8EE-CB6ECCE68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Churn Customers by Age Group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21240-289B-016C-0C44-ABEACD83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69166"/>
            <a:ext cx="4996897" cy="41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4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CCF04-DA4C-41A4-40B2-721B07D727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0CDB6-8813-2210-3AED-45A6BD639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5F423-CC6F-DAB6-07D2-DF3C6806FE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477964"/>
            <a:ext cx="5241925" cy="5008562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only 1 product show the highest churn count at approximately 1,409 customers, indicating higher attrition among single-product users.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Churn decreases significantly as the number of products increases, suggesting that multi-product customers are more likely to stay with the bank.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4 products have the lowest churn count, highlighting the positive impact of product engagement on customer retention. </a:t>
            </a:r>
          </a:p>
          <a:p>
            <a:pPr marL="0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AECAC6-8AC2-431A-3B4F-308C23A2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11" y="0"/>
            <a:ext cx="10499725" cy="135572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Churn by Number of Products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0EA4C-2009-A1B9-9630-C94BBFA66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6" y="1808922"/>
            <a:ext cx="4877490" cy="379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0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7A077-8715-8B22-FCFF-E8823699AFF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2128F3-1F25-50DC-7A07-85D4F50C3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A51E2-EDA4-0123-78E5-68EE44C8E3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7326" y="1550504"/>
            <a:ext cx="6660736" cy="449248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Fair credit scores contribute the highest churn count at approximately 685 customers, indicating greater customer attrition in this segment.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Poor and Good credit score categories also show notable churn levels with around 520 and 452 customers respectively.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Very Good and Excellent credit scores have comparatively lower churn counts, suggesting better retention among financially stable customers.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5AFF5F-7FEF-2335-BE99-3FDA0567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Churn by Credit Score Segment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FAFB4-75E0-49BB-BB5C-0996FED1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991" y="1689651"/>
            <a:ext cx="4253948" cy="321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8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E5BD-6586-DCF0-E089-1B37BA4FD6D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55395A-34F2-87B2-E9B4-A87739E55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7273CD-944F-9586-B674-921611EE982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053548" y="1477964"/>
            <a:ext cx="9869556" cy="47737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5507E95-1B94-0314-C758-F4D1A4BEB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606"/>
            <a:ext cx="12192000" cy="1355724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Customer Segmentation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144712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CECFD-9111-9698-F332-29F66849C72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651A4-8A57-DB54-59C0-2F315B6F7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913FD-D8A1-3D7B-17B8-9867C68653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6411429" cy="486092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average customer balance fluctuates across different tenure periods, indicating varying customer financial behavior over time.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with a tenure of 3 years show the highest average balance at approximately 77.7K, while tenure 5 records the lowest average balance around 75.2K.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After a decline between tenure 3 and 5, the average balance increases again for tenure 6 and 7, showing improved customer balance retention in later years.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D1A9E3-28AB-D47A-01AE-E1BB75DB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137" y="0"/>
            <a:ext cx="10499725" cy="135572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Average Balance Analysis by Tenure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AC07E-987A-49CB-1BC8-086DB489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70" y="1948071"/>
            <a:ext cx="3764429" cy="383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08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98087-09CF-9B20-C87D-3B3FE0EC3A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312DB-5B94-F96A-D2AE-50092D417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73BA07-08EE-FDF3-92B9-DA33044107C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775252" y="1625600"/>
            <a:ext cx="10578547" cy="486092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D2AFF47-940B-32D8-10E4-C7F4B58E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Risk &amp; Retention Analysis Dashboard</a:t>
            </a:r>
          </a:p>
        </p:txBody>
      </p:sp>
    </p:spTree>
    <p:extLst>
      <p:ext uri="{BB962C8B-B14F-4D97-AF65-F5344CB8AC3E}">
        <p14:creationId xmlns:p14="http://schemas.microsoft.com/office/powerpoint/2010/main" val="3950699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E163B-9991-8F58-B116-5F0EC82C6B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2C70-B810-1C1A-9613-E8797FB89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23E91-E229-83A2-324E-64AD36C89D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6024" y="1477963"/>
            <a:ext cx="6739419" cy="4860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Key Influencers visual identifies factors that significantly increase customer churn.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Major churn drivers include: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Low credit score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Higher product count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Customer inactivity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Geography factors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9FF921-1E28-581D-D070-DEB0CA93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Key Influencers for Customer Churn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A240B6-1E02-DD7C-47F7-179AC2369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875" y="2000573"/>
            <a:ext cx="4709568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20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0F689-B958-713C-DC9A-757E2560DD4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C9BFF6-8AAB-F926-C716-98E3099CE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A19B5-E16D-3C37-373F-B1B6B4C0F19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Focus on inactive customers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Reduce churn in Germany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Promote multi-product adoption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Improve engagement for older customers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Monitor low credit score customers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Use predictive analytics for churn prevention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Strengthen customer satisfaction programs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A7B3AF-49CC-7A7A-7F1B-3FF7DB8D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34925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6EB8B-4DA6-CB29-DF1C-EA09EA3508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BE2D85-2EE7-7525-9309-8F3790379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36C22-CB95-2C54-8181-0C53FF4B5AD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project successfully analyzed customer churn behavior using SQL and Power BI.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dashboards provide actionable insights into: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Customer retention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Customer segmentation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Product usage behavior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High-risk customer identification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analysis helps banks make data-driven business decisions.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48479-B77F-45CA-B42E-6AB5C923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75511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E00EB-581B-71B7-6AD6-F58192BCE8D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DB74C9-B808-4394-A017-79C83B2524E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8213E-67F9-58FE-8B05-FF33DA266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14140-22A4-3510-EC48-CCC9E977CAD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8B7DE-F571-DF07-32BA-7A7DEEAB1848}"/>
              </a:ext>
            </a:extLst>
          </p:cNvPr>
          <p:cNvSpPr txBox="1"/>
          <p:nvPr/>
        </p:nvSpPr>
        <p:spPr>
          <a:xfrm flipH="1">
            <a:off x="-1" y="2763078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007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877</TotalTime>
  <Words>870</Words>
  <Application>Microsoft Office PowerPoint</Application>
  <PresentationFormat>Widescreen</PresentationFormat>
  <Paragraphs>129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Arial Black</vt:lpstr>
      <vt:lpstr>Biome Light</vt:lpstr>
      <vt:lpstr>Calibri</vt:lpstr>
      <vt:lpstr>Office Theme</vt:lpstr>
      <vt:lpstr>Analytical CRM Development for a Bank</vt:lpstr>
      <vt:lpstr>Agenda</vt:lpstr>
      <vt:lpstr>PROBLEM STATEMENT</vt:lpstr>
      <vt:lpstr>PowerPoint Presentation</vt:lpstr>
      <vt:lpstr>Dataset Overview</vt:lpstr>
      <vt:lpstr>WORKFLOW</vt:lpstr>
      <vt:lpstr>Key Performance Indicators</vt:lpstr>
      <vt:lpstr>Geography Analysis</vt:lpstr>
      <vt:lpstr>Customer Acquisition Trend</vt:lpstr>
      <vt:lpstr>Customer Distribution by Credit Score</vt:lpstr>
      <vt:lpstr>Churn Analysis Dashboard</vt:lpstr>
      <vt:lpstr>Churn Customers by Age Group</vt:lpstr>
      <vt:lpstr>Churn by Number of Products</vt:lpstr>
      <vt:lpstr>Churn by Credit Score Segment</vt:lpstr>
      <vt:lpstr>Customer Segmentation Dashboard</vt:lpstr>
      <vt:lpstr>Average Balance Analysis by Tenure</vt:lpstr>
      <vt:lpstr>Risk &amp; Retention Analysis Dashboard</vt:lpstr>
      <vt:lpstr>Key Influencers for Customer Churn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Varshith Anishetti</dc:creator>
  <cp:lastModifiedBy>LOKESH REDDY CHILUKA</cp:lastModifiedBy>
  <cp:revision>6</cp:revision>
  <dcterms:created xsi:type="dcterms:W3CDTF">2026-03-21T10:22:00Z</dcterms:created>
  <dcterms:modified xsi:type="dcterms:W3CDTF">2026-05-11T14:00:57Z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